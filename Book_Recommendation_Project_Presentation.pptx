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3" r:id="rId1"/>
  </p:sldMasterIdLst>
  <p:sldIdLst>
    <p:sldId id="256" r:id="rId2"/>
    <p:sldId id="257" r:id="rId3"/>
    <p:sldId id="269" r:id="rId4"/>
    <p:sldId id="259" r:id="rId5"/>
    <p:sldId id="260" r:id="rId6"/>
    <p:sldId id="270" r:id="rId7"/>
    <p:sldId id="271" r:id="rId8"/>
    <p:sldId id="272" r:id="rId9"/>
    <p:sldId id="273" r:id="rId10"/>
    <p:sldId id="274" r:id="rId11"/>
    <p:sldId id="275" r:id="rId12"/>
    <p:sldId id="262" r:id="rId13"/>
    <p:sldId id="276" r:id="rId14"/>
    <p:sldId id="277" r:id="rId15"/>
    <p:sldId id="261" r:id="rId16"/>
    <p:sldId id="278" r:id="rId17"/>
    <p:sldId id="279" r:id="rId18"/>
    <p:sldId id="265" r:id="rId19"/>
    <p:sldId id="26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3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0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2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1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59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83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95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31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54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5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4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15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801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83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57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50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66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65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47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  <p:sldLayoutId id="2147483800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6645"/>
            <a:ext cx="7772400" cy="3403805"/>
          </a:xfrm>
        </p:spPr>
        <p:txBody>
          <a:bodyPr>
            <a:normAutofit/>
          </a:bodyPr>
          <a:lstStyle/>
          <a:p>
            <a:r>
              <a:rPr sz="3200" dirty="0">
                <a:latin typeface="Castellar" panose="020A0402060406010301" pitchFamily="18" charset="0"/>
              </a:rPr>
              <a:t>📚</a:t>
            </a:r>
            <a:r>
              <a:rPr sz="6000" dirty="0">
                <a:latin typeface="Castellar" panose="020A0402060406010301" pitchFamily="18" charset="0"/>
              </a:rPr>
              <a:t> </a:t>
            </a:r>
            <a:r>
              <a:rPr sz="3200" dirty="0">
                <a:latin typeface="Castellar" panose="020A0402060406010301" pitchFamily="18" charset="0"/>
                <a:cs typeface="Aparajita" panose="02020603050405020304" pitchFamily="18" charset="0"/>
              </a:rPr>
              <a:t>Book</a:t>
            </a:r>
            <a:r>
              <a:rPr lang="en-IN" sz="4400" dirty="0">
                <a:latin typeface="Castellar" panose="020A0402060406010301" pitchFamily="18" charset="0"/>
                <a:cs typeface="Aparajita" panose="02020603050405020304" pitchFamily="18" charset="0"/>
              </a:rPr>
              <a:t> </a:t>
            </a:r>
            <a:r>
              <a:rPr sz="3200" dirty="0">
                <a:latin typeface="Castellar" panose="020A0402060406010301" pitchFamily="18" charset="0"/>
              </a:rPr>
              <a:t>Recommendation</a:t>
            </a:r>
            <a:r>
              <a:rPr sz="6000" dirty="0">
                <a:latin typeface="Castellar" panose="020A0402060406010301" pitchFamily="18" charset="0"/>
              </a:rPr>
              <a:t> </a:t>
            </a:r>
            <a:r>
              <a:rPr lang="en-IN" sz="6000" dirty="0">
                <a:latin typeface="Castellar" panose="020A0402060406010301" pitchFamily="18" charset="0"/>
              </a:rPr>
              <a:t>.</a:t>
            </a:r>
            <a:br>
              <a:rPr lang="en-US" sz="6000" dirty="0">
                <a:latin typeface="Castellar" panose="020A0402060406010301" pitchFamily="18" charset="0"/>
              </a:rPr>
            </a:br>
            <a:endParaRPr sz="6000" dirty="0">
              <a:latin typeface="Castellar" panose="020A0402060406010301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31690"/>
            <a:ext cx="6400800" cy="2807110"/>
          </a:xfrm>
        </p:spPr>
        <p:txBody>
          <a:bodyPr>
            <a:normAutofit/>
          </a:bodyPr>
          <a:lstStyle/>
          <a:p>
            <a:endParaRPr lang="en-IN" sz="5400" b="1" dirty="0"/>
          </a:p>
          <a:p>
            <a:r>
              <a:rPr lang="en-IN" sz="2800" b="1" dirty="0"/>
              <a:t>By</a:t>
            </a:r>
            <a:r>
              <a:rPr lang="en-IN" sz="5400" b="1" dirty="0"/>
              <a:t> </a:t>
            </a:r>
            <a:r>
              <a:rPr lang="en-IN" sz="2800" b="1" dirty="0"/>
              <a:t>,</a:t>
            </a:r>
          </a:p>
          <a:p>
            <a:r>
              <a:rPr lang="en-IN" sz="3000" b="1" dirty="0"/>
              <a:t>Divyarani</a:t>
            </a:r>
            <a:r>
              <a:rPr lang="en-IN" sz="5400" b="1" dirty="0"/>
              <a:t> </a:t>
            </a:r>
            <a:r>
              <a:rPr lang="en-IN" sz="2800" b="1" dirty="0"/>
              <a:t>kalyane</a:t>
            </a:r>
            <a:r>
              <a:rPr lang="en-IN" sz="5400" b="1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Generate the features from the dataset and use them to recommend the books accordingly to the users.</a:t>
            </a:r>
            <a:endParaRPr lang="en-US" dirty="0"/>
          </a:p>
          <a:p>
            <a:r>
              <a:rPr lang="en-US" dirty="0"/>
              <a:t>Goal: Build a system that recommends books based on user preferences.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AB199C7-E39C-4BDA-6476-185EA2FC1BE9}"/>
              </a:ext>
            </a:extLst>
          </p:cNvPr>
          <p:cNvSpPr/>
          <p:nvPr/>
        </p:nvSpPr>
        <p:spPr>
          <a:xfrm>
            <a:off x="3264310" y="206478"/>
            <a:ext cx="2389237" cy="1189704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DATA 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COLLECTION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D5758A9-1E79-7995-BCAB-B14E74185758}"/>
              </a:ext>
            </a:extLst>
          </p:cNvPr>
          <p:cNvSpPr/>
          <p:nvPr/>
        </p:nvSpPr>
        <p:spPr>
          <a:xfrm>
            <a:off x="3313845" y="1797016"/>
            <a:ext cx="2389238" cy="1406013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C0F32BF-13B7-544B-E584-B3AA92EB1AB1}"/>
              </a:ext>
            </a:extLst>
          </p:cNvPr>
          <p:cNvSpPr/>
          <p:nvPr/>
        </p:nvSpPr>
        <p:spPr>
          <a:xfrm>
            <a:off x="3264310" y="3603864"/>
            <a:ext cx="2488308" cy="1189704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BUILDING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C8EE6F-FDD3-B740-2AD8-8293B01F7134}"/>
              </a:ext>
            </a:extLst>
          </p:cNvPr>
          <p:cNvSpPr/>
          <p:nvPr/>
        </p:nvSpPr>
        <p:spPr>
          <a:xfrm>
            <a:off x="3162907" y="5349992"/>
            <a:ext cx="2691114" cy="1189704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DEPLOYMENT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5BDDDD5-34F4-7900-19AF-FAAA96A4AC2B}"/>
              </a:ext>
            </a:extLst>
          </p:cNvPr>
          <p:cNvSpPr/>
          <p:nvPr/>
        </p:nvSpPr>
        <p:spPr>
          <a:xfrm>
            <a:off x="4458928" y="1396182"/>
            <a:ext cx="113072" cy="316871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17203F2-F443-15AC-1C83-30A6301A4988}"/>
              </a:ext>
            </a:extLst>
          </p:cNvPr>
          <p:cNvSpPr/>
          <p:nvPr/>
        </p:nvSpPr>
        <p:spPr>
          <a:xfrm>
            <a:off x="4458928" y="3203029"/>
            <a:ext cx="113072" cy="225971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29F69D9-DC29-36D6-8E0B-7FC27C9DEB57}"/>
              </a:ext>
            </a:extLst>
          </p:cNvPr>
          <p:cNvSpPr/>
          <p:nvPr/>
        </p:nvSpPr>
        <p:spPr>
          <a:xfrm>
            <a:off x="4458928" y="4793568"/>
            <a:ext cx="158791" cy="400835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9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Dataset contains information about books and user interactions.</a:t>
            </a:r>
          </a:p>
          <a:p>
            <a:r>
              <a:rPr dirty="0"/>
              <a:t>• Features include:</a:t>
            </a:r>
          </a:p>
          <a:p>
            <a:r>
              <a:rPr dirty="0"/>
              <a:t>   - User ID</a:t>
            </a:r>
          </a:p>
          <a:p>
            <a:r>
              <a:rPr dirty="0"/>
              <a:t>   - Book Title</a:t>
            </a:r>
          </a:p>
          <a:p>
            <a:r>
              <a:rPr dirty="0"/>
              <a:t>   - Ratings</a:t>
            </a:r>
          </a:p>
          <a:p>
            <a:r>
              <a:rPr dirty="0"/>
              <a:t>• Data cleaning and preprocessing applied.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Steps followed:</a:t>
            </a:r>
          </a:p>
          <a:p>
            <a:r>
              <a:rPr dirty="0"/>
              <a:t>1. Data preprocessing &amp; cleaning.</a:t>
            </a:r>
          </a:p>
          <a:p>
            <a:r>
              <a:rPr dirty="0"/>
              <a:t>2. Handling missing values.</a:t>
            </a:r>
          </a:p>
          <a:p>
            <a:r>
              <a:rPr dirty="0"/>
              <a:t>3. Creating a utility matrix.</a:t>
            </a:r>
          </a:p>
          <a:p>
            <a:r>
              <a:rPr dirty="0"/>
              <a:t>4. Applying similarity measures (Cosine similarity).</a:t>
            </a:r>
          </a:p>
          <a:p>
            <a:r>
              <a:rPr dirty="0"/>
              <a:t>5. Generating top-N recommendations.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24C1-FBB3-4577-3448-73135543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365760"/>
            <a:ext cx="6635014" cy="687536"/>
          </a:xfrm>
        </p:spPr>
        <p:txBody>
          <a:bodyPr/>
          <a:lstStyle/>
          <a:p>
            <a:pPr algn="ctr"/>
            <a:r>
              <a:rPr lang="en-US" dirty="0"/>
              <a:t>EDA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ACE25B-1F70-BD2C-479E-74742A878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07318"/>
            <a:ext cx="8090704" cy="257760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1C7A44-C496-2354-5C93-E19D1817A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31" y="4104540"/>
            <a:ext cx="7830273" cy="238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5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C01525-98B6-2114-35BD-7FB5CA1917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516" y="127322"/>
            <a:ext cx="7893935" cy="244225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8EFFE8-5105-2F70-7104-F168C06DF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939969"/>
            <a:ext cx="8090704" cy="321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8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1288-35C5-9439-40D3-E17964477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046351"/>
          </a:xfrm>
        </p:spPr>
        <p:txBody>
          <a:bodyPr/>
          <a:lstStyle/>
          <a:p>
            <a:r>
              <a:rPr lang="en-US" dirty="0"/>
              <a:t>OUTLIERS DETECTION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8074DB-AA2E-6245-EA02-576E799E2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611775"/>
            <a:ext cx="8055980" cy="4525963"/>
          </a:xfrm>
        </p:spPr>
      </p:pic>
    </p:spTree>
    <p:extLst>
      <p:ext uri="{BB962C8B-B14F-4D97-AF65-F5344CB8AC3E}">
        <p14:creationId xmlns:p14="http://schemas.microsoft.com/office/powerpoint/2010/main" val="378621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773824-B405-AC7F-8200-889DC81926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734" y="274638"/>
            <a:ext cx="7731889" cy="3154362"/>
          </a:xfrm>
        </p:spPr>
      </p:pic>
    </p:spTree>
    <p:extLst>
      <p:ext uri="{BB962C8B-B14F-4D97-AF65-F5344CB8AC3E}">
        <p14:creationId xmlns:p14="http://schemas.microsoft.com/office/powerpoint/2010/main" val="1471596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FE590-D0C7-645B-34AC-F6BE510C9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73EB0E-E0BD-8DD8-B110-40D00C81F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8653" y="1769612"/>
            <a:ext cx="7269480" cy="3080179"/>
          </a:xfrm>
        </p:spPr>
      </p:pic>
    </p:spTree>
    <p:extLst>
      <p:ext uri="{BB962C8B-B14F-4D97-AF65-F5344CB8AC3E}">
        <p14:creationId xmlns:p14="http://schemas.microsoft.com/office/powerpoint/2010/main" val="78326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D3BE-403C-1DE0-AAB9-183F057E5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687536"/>
          </a:xfrm>
        </p:spPr>
        <p:txBody>
          <a:bodyPr/>
          <a:lstStyle/>
          <a:p>
            <a:r>
              <a:rPr lang="en-US" dirty="0"/>
              <a:t>BEST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B284CE-8907-30FD-A778-291F7B0635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941" y="1224449"/>
            <a:ext cx="4363059" cy="173379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70B99B-1BF0-314C-94E4-7C72DDF12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90" y="3152544"/>
            <a:ext cx="7388294" cy="372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0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Techniques used:</a:t>
            </a:r>
          </a:p>
          <a:p>
            <a:r>
              <a:rPr dirty="0"/>
              <a:t>   - Collaborative Filtering</a:t>
            </a:r>
          </a:p>
          <a:p>
            <a:r>
              <a:rPr dirty="0"/>
              <a:t>   - Content-based Filtering</a:t>
            </a:r>
          </a:p>
          <a:p>
            <a:r>
              <a:rPr dirty="0"/>
              <a:t>• Algorithms:</a:t>
            </a:r>
          </a:p>
          <a:p>
            <a:r>
              <a:rPr dirty="0"/>
              <a:t>   - Cosine Similarity</a:t>
            </a:r>
          </a:p>
          <a:p>
            <a:r>
              <a:rPr dirty="0"/>
              <a:t>   - Nearest Neighbors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F7AC4-BC17-A737-836C-7926E5F17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0FA51C-65EC-F3CA-C045-E27B19B27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2385574"/>
            <a:ext cx="7956550" cy="3687051"/>
          </a:xfrm>
        </p:spPr>
      </p:pic>
    </p:spTree>
    <p:extLst>
      <p:ext uri="{BB962C8B-B14F-4D97-AF65-F5344CB8AC3E}">
        <p14:creationId xmlns:p14="http://schemas.microsoft.com/office/powerpoint/2010/main" val="380860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898696-7E4C-5443-BFDD-18F1C266FC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792" y="347241"/>
            <a:ext cx="7824486" cy="3648649"/>
          </a:xfrm>
        </p:spPr>
      </p:pic>
    </p:spTree>
    <p:extLst>
      <p:ext uri="{BB962C8B-B14F-4D97-AF65-F5344CB8AC3E}">
        <p14:creationId xmlns:p14="http://schemas.microsoft.com/office/powerpoint/2010/main" val="257035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User inputs book name.</a:t>
            </a:r>
          </a:p>
          <a:p>
            <a:r>
              <a:rPr dirty="0"/>
              <a:t>2. Model calculates similarity scores.</a:t>
            </a:r>
          </a:p>
          <a:p>
            <a:r>
              <a:rPr dirty="0"/>
              <a:t>3. Top N similar books are recommended.</a:t>
            </a:r>
          </a:p>
          <a:p>
            <a:r>
              <a:rPr dirty="0"/>
              <a:t>4. Display recommendations to user.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8E395-3F51-AB68-F5D2-8251B112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30AC8-8E75-990B-19AD-E4E74D089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Handling missing and inconsistent data</a:t>
            </a:r>
          </a:p>
          <a:p>
            <a:r>
              <a:rPr lang="en-US" dirty="0"/>
              <a:t>High sparsity in the user–book rating matrix</a:t>
            </a:r>
          </a:p>
          <a:p>
            <a:r>
              <a:rPr lang="en-US" dirty="0"/>
              <a:t>Computational complexity of similarity calculations</a:t>
            </a:r>
          </a:p>
          <a:p>
            <a:r>
              <a:rPr lang="en-US" dirty="0"/>
              <a:t>Cold start problem for new users and books</a:t>
            </a:r>
          </a:p>
          <a:p>
            <a:r>
              <a:rPr lang="en-US" dirty="0"/>
              <a:t>Difficulty in balancing accuracy vs. diversity of recommendations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88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67A4-1700-63EC-141E-B267755B8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F69CE-694C-46FE-0D28-CA933B76D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Helps readers discover books that match their interests</a:t>
            </a:r>
          </a:p>
          <a:p>
            <a:r>
              <a:rPr lang="en-US" dirty="0"/>
              <a:t>Saves time by reducing the effort of searching through thousands of books</a:t>
            </a:r>
          </a:p>
          <a:p>
            <a:r>
              <a:rPr lang="en-US" dirty="0"/>
              <a:t>Enhances user satisfaction with personalized recommendations</a:t>
            </a:r>
          </a:p>
          <a:p>
            <a:r>
              <a:rPr lang="en-US" dirty="0"/>
              <a:t>Increases engagement for book platforms (users spend more time reading)</a:t>
            </a:r>
          </a:p>
          <a:p>
            <a:r>
              <a:rPr lang="en-US" dirty="0"/>
              <a:t>Provides a foundation for building smarter recommendation engines in other domains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53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Successfully built a functional book recommendation system</a:t>
            </a:r>
          </a:p>
          <a:p>
            <a:r>
              <a:rPr lang="en-US" dirty="0"/>
              <a:t>Generated personalized book suggestions based on user preferences</a:t>
            </a:r>
          </a:p>
          <a:p>
            <a:r>
              <a:rPr lang="en-US" dirty="0"/>
              <a:t>Improved the reading experience by making book discovery easier</a:t>
            </a:r>
          </a:p>
          <a:p>
            <a:r>
              <a:rPr lang="en-US" dirty="0"/>
              <a:t>Demonstrated the use of data preprocessing, similarity measures, and recommendation algorithms</a:t>
            </a:r>
          </a:p>
          <a:p>
            <a:r>
              <a:rPr lang="en-US" dirty="0"/>
              <a:t>Laid the groundwork for future improvements with advanced techniques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7187"/>
            <a:ext cx="8229600" cy="3463413"/>
          </a:xfrm>
        </p:spPr>
        <p:txBody>
          <a:bodyPr/>
          <a:lstStyle/>
          <a:p>
            <a:pPr algn="ctr"/>
            <a:r>
              <a:rPr dirty="0"/>
              <a:t>Thank You!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889</TotalTime>
  <Words>327</Words>
  <Application>Microsoft Office PowerPoint</Application>
  <PresentationFormat>On-screen Show (4:3)</PresentationFormat>
  <Paragraphs>62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Castellar</vt:lpstr>
      <vt:lpstr>Century Gothic</vt:lpstr>
      <vt:lpstr>Vapor Trail</vt:lpstr>
      <vt:lpstr>📚 Book Recommendation . </vt:lpstr>
      <vt:lpstr>Objective</vt:lpstr>
      <vt:lpstr>PowerPoint Presentation</vt:lpstr>
      <vt:lpstr>Dataset Overview</vt:lpstr>
      <vt:lpstr>Methodology</vt:lpstr>
      <vt:lpstr>EDA</vt:lpstr>
      <vt:lpstr>PowerPoint Presentation</vt:lpstr>
      <vt:lpstr>OUTLIERS DETECTION</vt:lpstr>
      <vt:lpstr>PowerPoint Presentation</vt:lpstr>
      <vt:lpstr>MODEL BUILDING </vt:lpstr>
      <vt:lpstr>BEST MODEL</vt:lpstr>
      <vt:lpstr>Model Implementation</vt:lpstr>
      <vt:lpstr>OUTPUT</vt:lpstr>
      <vt:lpstr>PowerPoint Presentation</vt:lpstr>
      <vt:lpstr>System Architecture</vt:lpstr>
      <vt:lpstr>CHALLENGES FACED</vt:lpstr>
      <vt:lpstr>IMPORTANCE OF THE PROJECT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divyarani kalyane</cp:lastModifiedBy>
  <cp:revision>9</cp:revision>
  <dcterms:created xsi:type="dcterms:W3CDTF">2013-01-27T09:14:16Z</dcterms:created>
  <dcterms:modified xsi:type="dcterms:W3CDTF">2025-10-05T12:43:10Z</dcterms:modified>
  <cp:category/>
</cp:coreProperties>
</file>